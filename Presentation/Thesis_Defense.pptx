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2" d="100"/>
          <a:sy n="82" d="100"/>
        </p:scale>
        <p:origin x="691" y="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4069080"/>
            <a:ext cx="8534095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2608" y="256032"/>
            <a:ext cx="4285722" cy="104241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u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3956539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Segoe UI"/>
              </a:rPr>
              <a:t>Empirical Evaluation and Cost Optimization
of Large Language Models in Azure Cloud Environments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Segoe UI"/>
              </a:rPr>
              <a:t>Bachelor Thesis Defense, Computer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32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 i="0">
                <a:solidFill>
                  <a:srgbClr val="0B1F4B"/>
                </a:solidFill>
                <a:latin typeface="Segoe UI"/>
              </a:rPr>
              <a:t>Matin Abaszada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  <a:latin typeface="Segoe UI"/>
              </a:rPr>
              <a:t>Supervisor: Prof. Dr. Ivan Ovsyannikov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0" i="1">
                <a:solidFill>
                  <a:srgbClr val="605E5C"/>
                </a:solidFill>
                <a:latin typeface="Segoe UI"/>
              </a:rPr>
              <a:t>Constructor University,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Why Cloud Hosting and Model Choice Both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MOTIVATION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657600" cy="2743200"/>
          </a:xfrm>
          <a:prstGeom prst="rect">
            <a:avLst/>
          </a:prstGeom>
          <a:solidFill>
            <a:srgbClr val="EBF4FF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411480" cy="411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6304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0B1F4B"/>
                </a:solidFill>
                <a:latin typeface="Segoe UI"/>
              </a:rPr>
              <a:t>The Expensive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320040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Because of GPU clusters, cooling, dedicated operations and millions in CapEx, hosting LLMs locally is expensive.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280160"/>
            <a:ext cx="3657600" cy="2743200"/>
          </a:xfrm>
          <a:prstGeom prst="rect">
            <a:avLst/>
          </a:prstGeom>
          <a:solidFill>
            <a:srgbClr val="EBF4FF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53128" y="1463040"/>
            <a:ext cx="411480" cy="411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53128" y="146304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146304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0B1F4B"/>
                </a:solidFill>
                <a:latin typeface="Segoe UI"/>
              </a:rPr>
              <a:t>The Shift to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057400"/>
            <a:ext cx="320040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Enterprises move to cloud environments. One API call replaces an entire on-premise GPU server room. Pay only for what you 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1280160"/>
            <a:ext cx="3657600" cy="2743200"/>
          </a:xfrm>
          <a:prstGeom prst="rect">
            <a:avLst/>
          </a:prstGeom>
          <a:solidFill>
            <a:srgbClr val="EBF4FF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57616" y="1463040"/>
            <a:ext cx="411480" cy="411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57616" y="146304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146304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0">
                <a:solidFill>
                  <a:srgbClr val="0B1F4B"/>
                </a:solidFill>
                <a:latin typeface="Segoe UI"/>
              </a:rPr>
              <a:t>Azure as the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2057400"/>
            <a:ext cx="320040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Microsoft Azure: a unified catalog of OpenAI / DeepSeek / Meta models, pay-per-token pricing, quotas, and rate limits.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97680"/>
            <a:ext cx="11430000" cy="1783080"/>
          </a:xfrm>
          <a:prstGeom prst="rect">
            <a:avLst/>
          </a:prstGeom>
          <a:solidFill>
            <a:srgbClr val="FFF4CE"/>
          </a:solidFill>
          <a:ln w="9525">
            <a:solidFill>
              <a:srgbClr val="FF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297680"/>
            <a:ext cx="73152" cy="178308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4343400"/>
            <a:ext cx="11201400" cy="1691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  <a:latin typeface="Segoe UI"/>
              </a:rPr>
              <a:t>In the cloud, “best model” ≠ “strongest model”.</a:t>
            </a:r>
          </a:p>
          <a:p>
            <a:pPr algn="l"/>
            <a:r>
              <a:rPr sz="1600" b="0" i="0">
                <a:solidFill>
                  <a:srgbClr val="212121"/>
                </a:solidFill>
                <a:latin typeface="Segoe UI"/>
              </a:rPr>
              <a:t>A top-accuracy model that costs ~20× more per request than the next-best may be the wrong enterprise choice.</a:t>
            </a:r>
          </a:p>
          <a:p>
            <a:pPr algn="l"/>
            <a:r>
              <a:rPr sz="1600" b="0" i="0">
                <a:solidFill>
                  <a:srgbClr val="212121"/>
                </a:solidFill>
                <a:latin typeface="Segoe UI"/>
              </a:rPr>
              <a:t>Accuracy, cost, and latency must all be evaluated together.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 animBg="1"/>
      <p:bldP spid="24" grpId="0" animBg="1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Research Gap &amp;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943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0B1F4B"/>
                </a:solidFill>
                <a:latin typeface="Segoe UI"/>
              </a:rPr>
              <a:t>Where the existing literature falls short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6035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212121"/>
                </a:solidFill>
                <a:latin typeface="Segoe UI"/>
              </a:rPr>
              <a:t>Most existing studies evaluate models in isolation: accuracy only, or cost only, never together.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212121"/>
                </a:solidFill>
                <a:latin typeface="Segoe UI"/>
              </a:rPr>
              <a:t>Optimization strategies (routing, cascading) are benchmarked against their own internal goal, not a unified deployment reward.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212121"/>
                </a:solidFill>
                <a:latin typeface="Segoe UI"/>
              </a:rPr>
              <a:t>Almost no studies test these strategies in a real cloud environment, where pricing, quotas, and rate limits directly shape latency and cost.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188720"/>
            <a:ext cx="4937760" cy="4846320"/>
          </a:xfrm>
          <a:prstGeom prst="rect">
            <a:avLst/>
          </a:prstGeom>
          <a:solidFill>
            <a:srgbClr val="EBF4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1325880"/>
            <a:ext cx="43891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0B1F4B"/>
                </a:solidFill>
                <a:latin typeface="Segoe UI"/>
              </a:rPr>
              <a:t>Research Questions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828800"/>
            <a:ext cx="1097280" cy="3657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205740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20574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057400"/>
            <a:ext cx="36576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How do Azure-hosted LLMs differ across accuracy, latency, and cost?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333756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33375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337560"/>
            <a:ext cx="36576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Is reasoning-enabled inference economically justified?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461772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46177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617720"/>
            <a:ext cx="36576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Can a proxy optimization layer improve cost-efficiency?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Study Design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80160"/>
            <a:ext cx="10332720" cy="1143000"/>
          </a:xfrm>
          <a:prstGeom prst="rect">
            <a:avLst/>
          </a:prstGeom>
          <a:solidFill>
            <a:srgbClr val="EBF4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280160"/>
            <a:ext cx="137160" cy="1143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389888"/>
            <a:ext cx="9784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1F4B"/>
                </a:solidFill>
                <a:latin typeface="Segoe UI"/>
              </a:rPr>
              <a:t>6 Azure Models  (2 generations × 3 tiers)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47088"/>
            <a:ext cx="9784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Segoe UI"/>
              </a:rPr>
              <a:t>gpt-4.1-mini · gpt-5.4-mini    |    gpt-4.1 · gpt-5.4    |    o3-mini · gpt-5.4-pro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52160" y="2423160"/>
            <a:ext cx="457200" cy="22860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2651760"/>
            <a:ext cx="10332720" cy="1143000"/>
          </a:xfrm>
          <a:prstGeom prst="rect">
            <a:avLst/>
          </a:prstGeom>
          <a:solidFill>
            <a:srgbClr val="EBF4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2651760"/>
            <a:ext cx="137160" cy="1143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2761488"/>
            <a:ext cx="9784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1F4B"/>
                </a:solidFill>
                <a:latin typeface="Segoe UI"/>
              </a:rPr>
              <a:t>5 Benchmark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18688"/>
            <a:ext cx="9784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Segoe UI"/>
              </a:rPr>
              <a:t>HumanEval (Python coding) · MBPP (Python coding) · MMLU-Pro (multi-subject multiple-choice) · GPQA (graduate-level science Q&amp;A) · GSM8K (grade-school math word problems)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52160" y="3794760"/>
            <a:ext cx="457200" cy="22860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4023360"/>
            <a:ext cx="10332720" cy="1143000"/>
          </a:xfrm>
          <a:prstGeom prst="rect">
            <a:avLst/>
          </a:prstGeom>
          <a:solidFill>
            <a:srgbClr val="EBF4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4023360"/>
            <a:ext cx="137160" cy="1143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4133088"/>
            <a:ext cx="9784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1F4B"/>
                </a:solidFill>
                <a:latin typeface="Segoe UI"/>
              </a:rPr>
              <a:t>Evaluated Under 4 Strategies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90288"/>
            <a:ext cx="9784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Segoe UI"/>
              </a:rPr>
              <a:t>Standalone  ·  Cascade  ·  Router  ·  Self-Consistency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" y="5577840"/>
            <a:ext cx="73152" cy="6400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" y="5623560"/>
            <a:ext cx="101041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  <a:latin typeface="Segoe UI"/>
              </a:rPr>
              <a:t>All strategies evaluated under the same economic reward function.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The Unified Evaluation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0881360" cy="1280160"/>
          </a:xfrm>
          <a:prstGeom prst="rect">
            <a:avLst/>
          </a:prstGeom>
          <a:solidFill>
            <a:srgbClr val="EBF4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i="0">
                <a:solidFill>
                  <a:srgbClr val="212121"/>
                </a:solidFill>
                <a:latin typeface="Segoe UI"/>
              </a:rPr>
              <a:t>Reward  =  − ( </a:t>
            </a:r>
            <a:r>
              <a:rPr sz="2800" b="1" i="0">
                <a:solidFill>
                  <a:srgbClr val="107C10"/>
                </a:solidFill>
                <a:latin typeface="Segoe UI"/>
              </a:rPr>
              <a:t>Cost</a:t>
            </a:r>
            <a:r>
              <a:rPr sz="2800" b="1" i="0">
                <a:solidFill>
                  <a:srgbClr val="212121"/>
                </a:solidFill>
                <a:latin typeface="Segoe UI"/>
              </a:rPr>
              <a:t>  +  </a:t>
            </a:r>
            <a:r>
              <a:rPr sz="2800" b="1" i="0">
                <a:solidFill>
                  <a:srgbClr val="0078D4"/>
                </a:solidFill>
                <a:latin typeface="Segoe UI"/>
              </a:rPr>
              <a:t>λ_latency × Latency</a:t>
            </a:r>
            <a:r>
              <a:rPr sz="2800" b="1" i="0">
                <a:solidFill>
                  <a:srgbClr val="212121"/>
                </a:solidFill>
                <a:latin typeface="Segoe UI"/>
              </a:rPr>
              <a:t>  +  </a:t>
            </a:r>
            <a:r>
              <a:rPr sz="2800" b="1" i="0">
                <a:solidFill>
                  <a:srgbClr val="D83B01"/>
                </a:solidFill>
                <a:latin typeface="Segoe UI"/>
              </a:rPr>
              <a:t>λ_error × Error</a:t>
            </a:r>
            <a:r>
              <a:rPr sz="2800" b="1" i="0">
                <a:solidFill>
                  <a:srgbClr val="212121"/>
                </a:solidFill>
                <a:latin typeface="Segoe UI"/>
              </a:rPr>
              <a:t> 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17520"/>
            <a:ext cx="36118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127248"/>
            <a:ext cx="3246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107C10"/>
                </a:solidFill>
                <a:latin typeface="Segoe UI"/>
              </a:rPr>
              <a:t>$ 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32461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Cost of each request, deterministically calculated from tokens used × Azure price.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017520"/>
            <a:ext cx="36118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3127248"/>
            <a:ext cx="3246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0078D4"/>
                </a:solidFill>
                <a:latin typeface="Segoe UI"/>
              </a:rPr>
              <a:t>⏱ 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611880"/>
            <a:ext cx="32461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Wall-clock time per API call (seconds).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3017520"/>
            <a:ext cx="36118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3127248"/>
            <a:ext cx="3246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D83B01"/>
                </a:solidFill>
                <a:latin typeface="Segoe UI"/>
              </a:rPr>
              <a:t>✗ 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611880"/>
            <a:ext cx="32461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Represents whether the model response is correct or wrong, encoded as a binary value.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572000"/>
            <a:ext cx="11201400" cy="1828800"/>
          </a:xfrm>
          <a:prstGeom prst="rect">
            <a:avLst/>
          </a:prstGeom>
          <a:solidFill>
            <a:srgbClr val="EBF4FF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4572000"/>
            <a:ext cx="73152" cy="1828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4617720"/>
            <a:ext cx="10972800" cy="1737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212121"/>
                </a:solidFill>
                <a:latin typeface="Segoe UI"/>
              </a:rPr>
              <a:t>•  λ_latency = penalty per second of waiting.</a:t>
            </a:r>
          </a:p>
          <a:p>
            <a:pPr algn="l"/>
            <a:r>
              <a:rPr sz="1400" b="1" i="0">
                <a:solidFill>
                  <a:srgbClr val="212121"/>
                </a:solidFill>
                <a:latin typeface="Segoe UI"/>
              </a:rPr>
              <a:t>•  λ_error = penalty per wrong answer.</a:t>
            </a:r>
          </a:p>
          <a:p>
            <a:pPr algn="l"/>
            <a:r>
              <a:rPr sz="1400" b="1" i="0">
                <a:solidFill>
                  <a:srgbClr val="212121"/>
                </a:solidFill>
                <a:latin typeface="Segoe UI"/>
              </a:rPr>
              <a:t>•  Defaults: λ_latency = 0.01, λ_error = 1.0 (sensitivity swept).</a:t>
            </a:r>
          </a:p>
          <a:p>
            <a:pPr algn="l"/>
            <a:r>
              <a:rPr sz="1400" b="1" i="0">
                <a:solidFill>
                  <a:srgbClr val="212121"/>
                </a:solidFill>
                <a:latin typeface="Segoe UI"/>
              </a:rPr>
              <a:t>•  Higher reward (closer to zero) is better.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Accuracy: A Two-Tier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RESULTS  •  STANDALONE</a:t>
            </a:r>
          </a:p>
        </p:txBody>
      </p:sp>
      <p:pic>
        <p:nvPicPr>
          <p:cNvPr id="8" name="Picture 7" descr="chart1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97" y="1188720"/>
            <a:ext cx="6978886" cy="5212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188720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B1F4B"/>
                </a:solidFill>
                <a:latin typeface="Segoe UI"/>
              </a:rPr>
              <a:t>Two clear tiers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691640"/>
            <a:ext cx="33832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Top tier (&gt;80%): gpt-5.4-pro 93.2%, gpt-5.4 90.8%, o3-mini 83.3%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Bottom tier (&lt;70%): gpt-4.1 68.3%, gpt-5.4-mini 60.6%, gpt-4.1-mini 57.6%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Gap between tiers ≈ 15 pp, larger than the spread within either 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5029200"/>
            <a:ext cx="3383280" cy="1280160"/>
          </a:xfrm>
          <a:prstGeom prst="rect">
            <a:avLst/>
          </a:prstGeom>
          <a:solidFill>
            <a:srgbClr val="EBF4FF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5029200"/>
            <a:ext cx="73152" cy="12801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59952" y="5074920"/>
            <a:ext cx="3154680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212121"/>
                </a:solidFill>
                <a:latin typeface="Segoe UI"/>
              </a:rPr>
              <a:t>Not gradual improvement; a structural jump.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Cost vs. Accuracy: ~20× Gap at the Pareto Frontier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RESULTS  •  STANDALONE</a:t>
            </a:r>
          </a:p>
        </p:txBody>
      </p:sp>
      <p:pic>
        <p:nvPicPr>
          <p:cNvPr id="8" name="Picture 7" descr="chart3_cost_vs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63654"/>
            <a:ext cx="8138160" cy="506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188720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B1F4B"/>
                </a:solidFill>
                <a:latin typeface="Segoe UI"/>
              </a:rPr>
              <a:t>Pareto frontier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691640"/>
            <a:ext cx="33832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gpt-5.4: 90.8% accuracy at 23× lower cost than gpt-5.4-pro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gpt-5.4-pro: +2.4 pp over gpt-5.4 at ~20× the cost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o3-mini and gpt-4.1 are Pareto-dominated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5029200"/>
            <a:ext cx="3383280" cy="1280160"/>
          </a:xfrm>
          <a:prstGeom prst="rect">
            <a:avLst/>
          </a:prstGeom>
          <a:solidFill>
            <a:srgbClr val="EBF4FF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5029200"/>
            <a:ext cx="73152" cy="12801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59952" y="5074920"/>
            <a:ext cx="3154680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Cost spans almost three orders of magnitude.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Economic Reward: The Ranking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RESULTS  •  STANDALONE</a:t>
            </a:r>
          </a:p>
        </p:txBody>
      </p:sp>
      <p:pic>
        <p:nvPicPr>
          <p:cNvPr id="8" name="Picture 7" descr="chart4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265" y="1188720"/>
            <a:ext cx="6963150" cy="5212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188720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B1F4B"/>
                </a:solidFill>
                <a:latin typeface="Segoe UI"/>
              </a:rPr>
              <a:t>Most accurate ≠ best 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691640"/>
            <a:ext cx="33832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gpt-5.4-pro: #1 accuracy → #5 reward (cost + latency penalty)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o3-mini: #3 accuracy → #6 reward (65.7 s mean latency)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gpt-5.4: #2 accuracy → #1 reward (best balance)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Which Model Wins, and When?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RESULTS  •  STANDALONE</a:t>
            </a:r>
          </a:p>
        </p:txBody>
      </p:sp>
      <p:pic>
        <p:nvPicPr>
          <p:cNvPr id="8" name="Picture 7" descr="chart7_best_mode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18275"/>
            <a:ext cx="8138160" cy="43529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188720"/>
            <a:ext cx="33832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Each cell = winning model at those (λ_error, λ_latency) weights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★  marks the default deployment setting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Mini wins under high latency penalty; gpt-5.4 wins the centre; gpt-5.4-pro wins under high error penalty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Cascade: Why not ask the small model first and only escalate when needed?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OPTIMIZATION  •  1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114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B1F4B"/>
                </a:solidFill>
                <a:latin typeface="Segoe UI"/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3383280" cy="502920"/>
          </a:xfrm>
          <a:prstGeom prst="rect">
            <a:avLst/>
          </a:prstGeom>
          <a:solidFill>
            <a:srgbClr val="EBF4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33832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Segoe UI"/>
              </a:rPr>
              <a:t>Query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286000" y="2240280"/>
            <a:ext cx="274320" cy="18288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3383280" cy="502920"/>
          </a:xfrm>
          <a:prstGeom prst="rect">
            <a:avLst/>
          </a:prstGeom>
          <a:solidFill>
            <a:srgbClr val="EBF4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33832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Segoe UI"/>
              </a:rPr>
              <a:t>Small Model (cheap)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286000" y="3017520"/>
            <a:ext cx="274320" cy="18288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3383280" cy="502920"/>
          </a:xfrm>
          <a:prstGeom prst="rect">
            <a:avLst/>
          </a:prstGeom>
          <a:solidFill>
            <a:srgbClr val="FFF4CE"/>
          </a:solidFill>
          <a:ln w="12700">
            <a:solidFill>
              <a:srgbClr val="FF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33832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Segoe UI"/>
              </a:rPr>
              <a:t>Confidence ≥ Threshold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86200"/>
            <a:ext cx="2057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107C10"/>
                </a:solidFill>
                <a:latin typeface="Segoe UI"/>
              </a:rPr>
              <a:t>YES  → 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886200"/>
            <a:ext cx="2057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D83B01"/>
                </a:solidFill>
                <a:latin typeface="Segoe UI"/>
              </a:rPr>
              <a:t>NO  →  Large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97680"/>
            <a:ext cx="3383280" cy="502920"/>
          </a:xfrm>
          <a:prstGeom prst="rect">
            <a:avLst/>
          </a:prstGeom>
          <a:solidFill>
            <a:srgbClr val="EBF4FF"/>
          </a:solidFill>
          <a:ln w="12700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33832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Segoe UI"/>
              </a:rPr>
              <a:t>Large Model (final answer)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983480" y="1874519"/>
          <a:ext cx="6812280" cy="22402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Configuration</a:t>
                      </a:r>
                    </a:p>
                  </a:txBody>
                  <a:tcPr marL="27432" marR="27432" marT="18288" marB="18288" anchor="ctr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T=60</a:t>
                      </a:r>
                    </a:p>
                  </a:txBody>
                  <a:tcPr marL="27432" marR="27432" marT="18288" marB="18288" anchor="ctr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T=75</a:t>
                      </a:r>
                    </a:p>
                  </a:txBody>
                  <a:tcPr marL="27432" marR="27432" marT="18288" marB="18288" anchor="ctr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T=90</a:t>
                      </a:r>
                    </a:p>
                  </a:txBody>
                  <a:tcPr marL="27432" marR="27432" marT="18288" marB="18288" anchor="ctr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Small alone</a:t>
                      </a:r>
                    </a:p>
                  </a:txBody>
                  <a:tcPr marL="27432" marR="27432" marT="18288" marB="18288" anchor="ctr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Large alone</a:t>
                      </a:r>
                    </a:p>
                  </a:txBody>
                  <a:tcPr marL="27432" marR="27432" marT="18288" marB="18288" anchor="ctr">
                    <a:solidFill>
                      <a:srgbClr val="0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12121"/>
                          </a:solidFill>
                          <a:latin typeface="Segoe UI"/>
                        </a:rPr>
                        <a:t>gpt-4.1-mini → gpt-4.1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−0.601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−0.602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−0.606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−0.582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07C10"/>
                          </a:solidFill>
                          <a:latin typeface="Segoe UI"/>
                        </a:rPr>
                        <a:t>−0.527</a:t>
                      </a:r>
                    </a:p>
                  </a:txBody>
                  <a:tcPr marL="27432" marR="27432" marT="18288" marB="18288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12121"/>
                          </a:solidFill>
                          <a:latin typeface="Segoe UI"/>
                        </a:rPr>
                        <a:t>gpt-4.1-mini → gpt-5.4</a:t>
                      </a:r>
                    </a:p>
                  </a:txBody>
                  <a:tcPr marL="27432" marR="2743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−0.601</a:t>
                      </a:r>
                    </a:p>
                  </a:txBody>
                  <a:tcPr marL="27432" marR="2743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−0.601</a:t>
                      </a:r>
                    </a:p>
                  </a:txBody>
                  <a:tcPr marL="27432" marR="2743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−0.601</a:t>
                      </a:r>
                    </a:p>
                  </a:txBody>
                  <a:tcPr marL="27432" marR="2743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−0.582</a:t>
                      </a:r>
                    </a:p>
                  </a:txBody>
                  <a:tcPr marL="27432" marR="2743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07C10"/>
                          </a:solidFill>
                          <a:latin typeface="Segoe UI"/>
                        </a:rPr>
                        <a:t>−0.444</a:t>
                      </a:r>
                    </a:p>
                  </a:txBody>
                  <a:tcPr marL="27432" marR="27432" marT="18288" marB="18288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12121"/>
                          </a:solidFill>
                          <a:latin typeface="Segoe UI"/>
                        </a:rPr>
                        <a:t>gpt-5.4-mini → gpt-4.1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−0.680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−0.689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−0.708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−0.569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07C10"/>
                          </a:solidFill>
                          <a:latin typeface="Segoe UI"/>
                        </a:rPr>
                        <a:t>−0.527</a:t>
                      </a:r>
                    </a:p>
                  </a:txBody>
                  <a:tcPr marL="27432" marR="27432" marT="18288" marB="18288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12121"/>
                          </a:solidFill>
                          <a:latin typeface="Segoe UI"/>
                        </a:rPr>
                        <a:t>gpt-5.4-mini → gpt-5.4</a:t>
                      </a:r>
                    </a:p>
                  </a:txBody>
                  <a:tcPr marL="27432" marR="2743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−0.680</a:t>
                      </a:r>
                    </a:p>
                  </a:txBody>
                  <a:tcPr marL="27432" marR="2743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−0.680</a:t>
                      </a:r>
                    </a:p>
                  </a:txBody>
                  <a:tcPr marL="27432" marR="2743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−0.681</a:t>
                      </a:r>
                    </a:p>
                  </a:txBody>
                  <a:tcPr marL="27432" marR="2743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Segoe UI"/>
                        </a:rPr>
                        <a:t>−0.569</a:t>
                      </a:r>
                    </a:p>
                  </a:txBody>
                  <a:tcPr marL="27432" marR="27432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07C10"/>
                          </a:solidFill>
                          <a:latin typeface="Segoe UI"/>
                        </a:rPr>
                        <a:t>−0.444</a:t>
                      </a:r>
                    </a:p>
                  </a:txBody>
                  <a:tcPr marL="27432" marR="27432" marT="18288" marB="18288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983480" y="4169663"/>
            <a:ext cx="6812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>
                <a:solidFill>
                  <a:srgbClr val="605E5C"/>
                </a:solidFill>
                <a:latin typeface="Segoe UI"/>
              </a:rPr>
              <a:t>Table 7: Cascade reward at default weights (λ_l = 0.01, λ_e = 1.0).  No cascade beats its large-alone baseline.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623560"/>
            <a:ext cx="11338560" cy="777240"/>
          </a:xfrm>
          <a:prstGeom prst="rect">
            <a:avLst/>
          </a:prstGeom>
          <a:solidFill>
            <a:srgbClr val="FFF4CE"/>
          </a:solidFill>
          <a:ln w="9525">
            <a:solidFill>
              <a:srgbClr val="FF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5623560"/>
            <a:ext cx="73152" cy="77724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5669280"/>
            <a:ext cx="111099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212121"/>
                </a:solidFill>
                <a:latin typeface="Segoe UI"/>
              </a:rPr>
              <a:t>Maximum escalation rate: only 7.3%, even at T = 90.  Modern LLMs are overconfident; the gate almost never opens.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 animBg="1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Self-Consistency: Why not let the small model double-check its own answer?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OPTIMIZATION  •  2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023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B1F4B"/>
                </a:solidFill>
                <a:latin typeface="Segoe UI"/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3291840" cy="502920"/>
          </a:xfrm>
          <a:prstGeom prst="rect">
            <a:avLst/>
          </a:prstGeom>
          <a:solidFill>
            <a:srgbClr val="EBF4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32918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Segoe UI"/>
              </a:rPr>
              <a:t>Query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097280" y="2286000"/>
            <a:ext cx="137160" cy="22860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560320"/>
            <a:ext cx="1051560" cy="457200"/>
          </a:xfrm>
          <a:prstGeom prst="rect">
            <a:avLst/>
          </a:prstGeom>
          <a:solidFill>
            <a:srgbClr val="EBF4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10515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Run 1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240280" y="2286000"/>
            <a:ext cx="137160" cy="22860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83080" y="2560320"/>
            <a:ext cx="1051560" cy="457200"/>
          </a:xfrm>
          <a:prstGeom prst="rect">
            <a:avLst/>
          </a:prstGeom>
          <a:solidFill>
            <a:srgbClr val="EBF4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83080" y="2560320"/>
            <a:ext cx="10515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Run 2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383280" y="2286000"/>
            <a:ext cx="137160" cy="22860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26080" y="2560320"/>
            <a:ext cx="1051560" cy="457200"/>
          </a:xfrm>
          <a:prstGeom prst="rect">
            <a:avLst/>
          </a:prstGeom>
          <a:solidFill>
            <a:srgbClr val="EBF4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80" y="2560320"/>
            <a:ext cx="10515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Run 3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240280" y="3108960"/>
            <a:ext cx="274320" cy="18288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429000"/>
            <a:ext cx="3291840" cy="502920"/>
          </a:xfrm>
          <a:prstGeom prst="rect">
            <a:avLst/>
          </a:prstGeom>
          <a:solidFill>
            <a:srgbClr val="E6F4EA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429000"/>
            <a:ext cx="32918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Segoe UI"/>
              </a:rPr>
              <a:t>Majority Vote → Final Answer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97680"/>
            <a:ext cx="4069080" cy="1828800"/>
          </a:xfrm>
          <a:prstGeom prst="rect">
            <a:avLst/>
          </a:prstGeom>
          <a:solidFill>
            <a:srgbClr val="EBF4FF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297680"/>
            <a:ext cx="73152" cy="18288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4343400"/>
            <a:ext cx="3840480" cy="1737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gpt-4.1-mini N=3:  +6.8 pp accuracy.</a:t>
            </a:r>
          </a:p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MMLU-Pro: 27.8% → 44.0%.</a:t>
            </a:r>
          </a:p>
          <a:p>
            <a:pPr algn="l"/>
            <a:endParaRPr sz="1300" b="0" i="0">
              <a:solidFill>
                <a:srgbClr val="212121"/>
              </a:solidFill>
              <a:latin typeface="Segoe UI"/>
            </a:endParaRPr>
          </a:p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Modest gain: cost = exactly 3×,</a:t>
            </a:r>
          </a:p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and accuracy stays below the next</a:t>
            </a:r>
          </a:p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standalone tier (68.3%).</a:t>
            </a:r>
          </a:p>
        </p:txBody>
      </p:sp>
      <p:pic>
        <p:nvPicPr>
          <p:cNvPr id="26" name="Picture 25" descr="chartSC5_selfcons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09596"/>
            <a:ext cx="7406640" cy="40045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 animBg="1"/>
      <p:bldP spid="18" grpId="0" animBg="1"/>
      <p:bldP spid="19" grpId="0"/>
      <p:bldP spid="20" grpId="0" animBg="1"/>
      <p:bldP spid="21" grpId="0" animBg="1"/>
      <p:bldP spid="22" grpId="0"/>
      <p:bldP spid="23" grpId="0" animBg="1"/>
      <p:bldP spid="24" grpId="0" animBg="1"/>
      <p:bldP spid="25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Router: Why not let an intelligent LLM decide which model to use?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OPTIMIZATION  •  3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114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B1F4B"/>
                </a:solidFill>
                <a:latin typeface="Segoe UI"/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3383280" cy="502920"/>
          </a:xfrm>
          <a:prstGeom prst="rect">
            <a:avLst/>
          </a:prstGeom>
          <a:solidFill>
            <a:srgbClr val="EBF4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33832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Segoe UI"/>
              </a:rPr>
              <a:t>Query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286000" y="2240280"/>
            <a:ext cx="274320" cy="18288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3383280" cy="502920"/>
          </a:xfrm>
          <a:prstGeom prst="rect">
            <a:avLst/>
          </a:prstGeom>
          <a:solidFill>
            <a:srgbClr val="FFF4CE"/>
          </a:solidFill>
          <a:ln w="12700">
            <a:solidFill>
              <a:srgbClr val="FF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33832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Segoe UI"/>
              </a:rPr>
              <a:t>Router  (gpt-5.4-mini)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286000" y="3017520"/>
            <a:ext cx="274320" cy="18288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1783080" cy="548640"/>
          </a:xfrm>
          <a:prstGeom prst="rect">
            <a:avLst/>
          </a:prstGeom>
          <a:solidFill>
            <a:srgbClr val="E6F4EA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17830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EASY → Small
(gpt-4.1-mini)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3246120"/>
            <a:ext cx="1783080" cy="548640"/>
          </a:xfrm>
          <a:prstGeom prst="rect">
            <a:avLst/>
          </a:prstGeom>
          <a:solidFill>
            <a:srgbClr val="FDE7E9"/>
          </a:solidFill>
          <a:ln w="12700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0" y="3246120"/>
            <a:ext cx="17830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HARD → Large
(gpt-4.1)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4160520" cy="1874519"/>
          </a:xfrm>
          <a:prstGeom prst="rect">
            <a:avLst/>
          </a:prstGeom>
          <a:solidFill>
            <a:srgbClr val="E6F4EA"/>
          </a:solidFill>
          <a:ln w="952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4160520"/>
            <a:ext cx="73152" cy="1874519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4206240"/>
            <a:ext cx="3931920" cy="178307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Accuracy clearly above the small baseline, at a fraction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of the cost of the large model.</a:t>
            </a:r>
          </a:p>
          <a:p>
            <a:pPr algn="l"/>
            <a:endParaRPr sz="1200" b="0" i="0">
              <a:solidFill>
                <a:srgbClr val="212121"/>
              </a:solidFill>
              <a:latin typeface="Segoe UI"/>
            </a:endParaRPr>
          </a:p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Trade-off: latency stays close to the large model,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because every query first passes through the router.</a:t>
            </a:r>
          </a:p>
        </p:txBody>
      </p:sp>
      <p:pic>
        <p:nvPicPr>
          <p:cNvPr id="22" name="Picture 21" descr="chartR3_router_best_confi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8275"/>
            <a:ext cx="7406640" cy="3927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 animBg="1"/>
      <p:bldP spid="18" grpId="0"/>
      <p:bldP spid="19" grpId="0" animBg="1"/>
      <p:bldP spid="20" grpId="0" animBg="1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Head-to-Head: Best Configuration per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RESULTS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0881360" cy="3291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Strategy</a:t>
                      </a:r>
                    </a:p>
                  </a:txBody>
                  <a:tcPr marL="73152" marR="73152" anchor="ctr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Best Configuration</a:t>
                      </a:r>
                    </a:p>
                  </a:txBody>
                  <a:tcPr marL="73152" marR="73152" anchor="ctr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 marL="73152" marR="73152" anchor="ctr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Latency</a:t>
                      </a:r>
                    </a:p>
                  </a:txBody>
                  <a:tcPr marL="73152" marR="73152" anchor="ctr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Cost (m$)</a:t>
                      </a:r>
                    </a:p>
                  </a:txBody>
                  <a:tcPr marL="73152" marR="73152" anchor="ctr"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Reward</a:t>
                      </a:r>
                    </a:p>
                  </a:txBody>
                  <a:tcPr marL="73152" marR="73152" anchor="ctr">
                    <a:solidFill>
                      <a:srgbClr val="0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Segoe UI"/>
                        </a:rPr>
                        <a:t>Standalone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gpt-5.4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90.8%</a:t>
                      </a:r>
                    </a:p>
                  </a:txBody>
                  <a:tcPr marL="73152" marR="73152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34.7 s</a:t>
                      </a:r>
                    </a:p>
                  </a:txBody>
                  <a:tcPr marL="73152" marR="73152"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5.370</a:t>
                      </a:r>
                    </a:p>
                  </a:txBody>
                  <a:tcPr marL="73152" marR="73152"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Segoe UI"/>
                        </a:rPr>
                        <a:t>−0.444</a:t>
                      </a:r>
                    </a:p>
                  </a:txBody>
                  <a:tcPr marL="73152" marR="73152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Segoe UI"/>
                        </a:rPr>
                        <a:t>Router</a:t>
                      </a:r>
                    </a:p>
                  </a:txBody>
                  <a:tcPr marL="73152" marR="7315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rtr=gpt-5.4-mini → gpt-4.1-mini / gpt-4.1</a:t>
                      </a:r>
                    </a:p>
                  </a:txBody>
                  <a:tcPr marL="73152" marR="7315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73.1%</a:t>
                      </a:r>
                    </a:p>
                  </a:txBody>
                  <a:tcPr marL="73152" marR="7315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22.9 s</a:t>
                      </a:r>
                    </a:p>
                  </a:txBody>
                  <a:tcPr marL="73152" marR="7315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0.344</a:t>
                      </a:r>
                    </a:p>
                  </a:txBody>
                  <a:tcPr marL="73152" marR="7315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Segoe UI"/>
                        </a:rPr>
                        <a:t>−0.498</a:t>
                      </a:r>
                    </a:p>
                  </a:txBody>
                  <a:tcPr marL="73152" marR="7315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Segoe UI"/>
                        </a:rPr>
                        <a:t>Self-Consist.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gpt-4.1-mini  N=3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64.4%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18.6 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0.765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Segoe UI"/>
                        </a:rPr>
                        <a:t>−0.543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Segoe UI"/>
                        </a:rPr>
                        <a:t>Cascade</a:t>
                      </a:r>
                    </a:p>
                  </a:txBody>
                  <a:tcPr marL="73152" marR="7315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gpt-4.1-mini → gpt-5.4  T=75</a:t>
                      </a:r>
                    </a:p>
                  </a:txBody>
                  <a:tcPr marL="73152" marR="7315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57.7%</a:t>
                      </a:r>
                    </a:p>
                  </a:txBody>
                  <a:tcPr marL="73152" marR="73152" anchor="ctr"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17.7 s</a:t>
                      </a:r>
                    </a:p>
                  </a:txBody>
                  <a:tcPr marL="73152" marR="73152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Segoe UI"/>
                        </a:rPr>
                        <a:t>0.261</a:t>
                      </a:r>
                    </a:p>
                  </a:txBody>
                  <a:tcPr marL="73152" marR="73152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12121"/>
                          </a:solidFill>
                          <a:latin typeface="Segoe UI"/>
                        </a:rPr>
                        <a:t>−0.601</a:t>
                      </a:r>
                    </a:p>
                  </a:txBody>
                  <a:tcPr marL="73152" marR="73152" anchor="ctr">
                    <a:solidFill>
                      <a:srgbClr val="FDE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52628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05E5C"/>
                </a:solidFill>
                <a:latin typeface="Segoe UI"/>
              </a:rPr>
              <a:t>Cost (m$) = milli-dollars per request (1 m$ = 0.001 USD = one thousandth of a US dollar). Computed as token counts × Azure list price.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solidFill>
            <a:srgbClr val="EBF4FF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937760"/>
            <a:ext cx="73152" cy="12801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4983480"/>
            <a:ext cx="11018520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 i="0">
                <a:solidFill>
                  <a:srgbClr val="212121"/>
                </a:solidFill>
                <a:latin typeface="Segoe UI"/>
              </a:rPr>
              <a:t>•  At default weights, the best reward belongs to a standalone model.</a:t>
            </a:r>
          </a:p>
          <a:p>
            <a:pPr algn="l"/>
            <a:r>
              <a:rPr sz="1500" b="1" i="0">
                <a:solidFill>
                  <a:srgbClr val="212121"/>
                </a:solidFill>
                <a:latin typeface="Segoe UI"/>
              </a:rPr>
              <a:t>•  This ordering changes as the latency and error penalty weights are varied, as the next slide shows.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Best Model &amp; Optimization Strategy Across the Penalty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RESULTS</a:t>
            </a:r>
          </a:p>
        </p:txBody>
      </p:sp>
      <p:pic>
        <p:nvPicPr>
          <p:cNvPr id="8" name="Picture 7" descr="chartUNI_unified_best_strategy_heatmap_router_diag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89676"/>
            <a:ext cx="8138160" cy="43187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188720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B1F4B"/>
                </a:solidFill>
                <a:latin typeface="Segoe UI"/>
              </a:rPr>
              <a:t>Who wins each cell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1691640"/>
            <a:ext cx="1097280" cy="3657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1828800"/>
            <a:ext cx="338328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SC gpt-4.1-mini (N=3): removes noise from a cheap and fast model, but accuracy still trails the standalone models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gpt-5.4: slower than SC, but reaches higher accuracy (fewer errors) — ★ default sits here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gpt-5.4-pro: highest accuracy of all, wins where error penalty is high and latency penalty is low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212121"/>
                </a:solidFill>
                <a:latin typeface="Segoe UI"/>
              </a:rPr>
              <a:t>Router: accurate at a much lower cost than the large models, but latency stays high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Conclusions: Answering the 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CONCLUSIONS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188720" cy="1554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88720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RQ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188720"/>
            <a:ext cx="1005840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74519" y="1298448"/>
            <a:ext cx="97840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B1F4B"/>
                </a:solidFill>
                <a:latin typeface="Segoe UI"/>
              </a:rPr>
              <a:t>How do Azure LLMs differ in accuracy, latency, and cost?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78308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Two-tier structure: 15 pp accuracy gap and ≈7× cost gap at the tier boundary (o3-mini vs gpt-4.1).  No model Pareto-dominates.  gpt-5.4 = best balanced choice at default weights.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07792"/>
            <a:ext cx="1188720" cy="155448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907792"/>
            <a:ext cx="1188720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RQ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2907792"/>
            <a:ext cx="1005840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FF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74519" y="3017520"/>
            <a:ext cx="97840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B1F4B"/>
                </a:solidFill>
                <a:latin typeface="Segoe UI"/>
              </a:rPr>
              <a:t>Is reasoning-enabled inference economically justified?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02152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Only for accuracy-critical, latency-tolerant tasks.  gpt-5.4-pro adds +2.4 pp at 20× the cost and 1.5× the latency. Not justified for general workloads.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26864"/>
            <a:ext cx="1188720" cy="155448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626864"/>
            <a:ext cx="1188720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RQ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4626864"/>
            <a:ext cx="1005840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74519" y="4736592"/>
            <a:ext cx="97840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B1F4B"/>
                </a:solidFill>
                <a:latin typeface="Segoe UI"/>
              </a:rPr>
              <a:t>Can proxy optimization improve cost-efficiency?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5221224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•  Cascade fails to optimize because neutralized by LLM overconfidence.</a:t>
            </a:r>
          </a:p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•  Self-Consistency optimizes the cheap/fast regime by reducing noise.</a:t>
            </a:r>
          </a:p>
          <a:p>
            <a:pPr algn="l"/>
            <a:r>
              <a:rPr sz="1400" b="0" i="0">
                <a:solidFill>
                  <a:srgbClr val="212121"/>
                </a:solidFill>
                <a:latin typeface="Segoe UI"/>
              </a:rPr>
              <a:t>•  Router optimizes the accuracy-vs-cost trade-off, winning a band of the decision map.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/>
      <p:bldP spid="13" grpId="0" animBg="1"/>
      <p:bldP spid="14" grpId="0"/>
      <p:bldP spid="15" grpId="0" animBg="1"/>
      <p:bldP spid="16" grpId="0"/>
      <p:bldP spid="17" grpId="0"/>
      <p:bldP spid="18" grpId="0" animBg="1"/>
      <p:bldP spid="19" grpId="0"/>
      <p:bldP spid="20" grpId="0" animBg="1"/>
      <p:bldP spid="21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160520"/>
            <a:ext cx="3962095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88136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Empirical Evaluation and Cost Optimization
of Large Language Models in Azure Cloud Environments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Matin Abaszada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Segoe UI"/>
              </a:rPr>
              <a:t>Supervisor: Prof. Dr. Ivan Ovsyannikov   •   Constructor University, May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3291840"/>
            <a:ext cx="22860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078D4"/>
                </a:solidFill>
                <a:latin typeface="Segoe UI"/>
              </a:rPr>
              <a:t>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3272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Additional charts &amp; detail for Q&amp;A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 i="1">
                <a:solidFill>
                  <a:srgbClr val="605E5C"/>
                </a:solidFill>
                <a:latin typeface="Segoe UI"/>
              </a:rPr>
              <a:t>17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CONCLUSIONS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54864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Limitations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486400" cy="3474720"/>
          </a:xfrm>
          <a:prstGeom prst="rect">
            <a:avLst/>
          </a:prstGeom>
          <a:solidFill>
            <a:srgbClr val="EBF4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512064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212121"/>
                </a:solidFill>
                <a:latin typeface="Segoe UI"/>
              </a:rPr>
              <a:t>6 models from gpt-4.1 / 5.4 / o3 families only. Other Azure models not covered.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212121"/>
                </a:solidFill>
                <a:latin typeface="Segoe UI"/>
              </a:rPr>
              <a:t>5 benchmark families; no long-context or multi-turn dialogue.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212121"/>
                </a:solidFill>
                <a:latin typeface="Segoe UI"/>
              </a:rPr>
              <a:t>Latency measured under one quota / region; may vary.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212121"/>
                </a:solidFill>
                <a:latin typeface="Segoe UI"/>
              </a:rPr>
              <a:t>Cascade used raw confidence without post-hoc calibration.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486400" cy="548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18872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Future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737360"/>
            <a:ext cx="5486400" cy="3474720"/>
          </a:xfrm>
          <a:prstGeom prst="rect">
            <a:avLst/>
          </a:prstGeom>
          <a:solidFill>
            <a:srgbClr val="E6F4EA"/>
          </a:solidFill>
          <a:ln w="127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20"/>
            <a:ext cx="512064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212121"/>
                </a:solidFill>
                <a:latin typeface="Segoe UI"/>
              </a:rPr>
              <a:t>Calibrated cascade (post-hoc / verifier-based escalation).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212121"/>
                </a:solidFill>
                <a:latin typeface="Segoe UI"/>
              </a:rPr>
              <a:t>Lightweight dedicated router models; hybrid strategies.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212121"/>
                </a:solidFill>
                <a:latin typeface="Segoe UI"/>
              </a:rPr>
              <a:t>Extended benchmarks: domain-specific, long-context, dialogue.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212121"/>
                </a:solidFill>
                <a:latin typeface="Segoe UI"/>
              </a:rPr>
              <a:t>Online deployment framework with real-time quota signals.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1292840" cy="118872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1129284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Thank you!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23560"/>
            <a:ext cx="112928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0" i="1">
                <a:solidFill>
                  <a:srgbClr val="EBF4FF"/>
                </a:solidFill>
                <a:latin typeface="Segoe UI"/>
              </a:rPr>
              <a:t>Questions welcome.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Per-Dataset Accuracy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BACKUP  •  B1</a:t>
            </a:r>
          </a:p>
        </p:txBody>
      </p:sp>
      <p:pic>
        <p:nvPicPr>
          <p:cNvPr id="7" name="Picture 6" descr="chart2_accuracy_per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4159"/>
            <a:ext cx="7955279" cy="43012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188720"/>
            <a:ext cx="3383280" cy="5120640"/>
          </a:xfrm>
          <a:prstGeom prst="rect">
            <a:avLst/>
          </a:prstGeom>
          <a:solidFill>
            <a:srgbClr val="EBF4FF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95360" y="1188720"/>
            <a:ext cx="73152" cy="5120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9952" y="1234440"/>
            <a:ext cx="3154680" cy="502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Coding benchmarks are saturated (80–100%).  GPQA and MMLU-Pro are the most discriminating datasets.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Self-Consistency Decision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BACKUP  •  B2</a:t>
            </a:r>
          </a:p>
        </p:txBody>
      </p:sp>
      <p:pic>
        <p:nvPicPr>
          <p:cNvPr id="7" name="Picture 6" descr="chartSC3_selfcons_best_confi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87590"/>
            <a:ext cx="7955279" cy="42143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188720"/>
            <a:ext cx="3383280" cy="5120640"/>
          </a:xfrm>
          <a:prstGeom prst="rect">
            <a:avLst/>
          </a:prstGeom>
          <a:solidFill>
            <a:srgbClr val="EBF4FF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95360" y="1188720"/>
            <a:ext cx="73152" cy="5120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9952" y="1234440"/>
            <a:ext cx="3154680" cy="502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gpt-4.1-mini N=3 dominates the upper-left (latency-tolerant, accuracy-important) region.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Router Detail: Routing Behavior by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BACKUP  •  B3</a:t>
            </a:r>
          </a:p>
        </p:txBody>
      </p:sp>
      <p:pic>
        <p:nvPicPr>
          <p:cNvPr id="7" name="Picture 6" descr="chartR1_rout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627" y="1188720"/>
            <a:ext cx="6168424" cy="5212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188720"/>
            <a:ext cx="3383280" cy="5120640"/>
          </a:xfrm>
          <a:prstGeom prst="rect">
            <a:avLst/>
          </a:prstGeom>
          <a:solidFill>
            <a:srgbClr val="EBF4FF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95360" y="1188720"/>
            <a:ext cx="73152" cy="5120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9952" y="1234440"/>
            <a:ext cx="3154680" cy="502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Coding tasks are almost never escalated; GPQA gets 40%+ escalation rate.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Per-Dataset Decision 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05E5C"/>
                </a:solidFill>
                <a:latin typeface="Segoe UI"/>
              </a:rPr>
              <a:t>BACKUP  •  B4</a:t>
            </a:r>
          </a:p>
        </p:txBody>
      </p:sp>
      <p:pic>
        <p:nvPicPr>
          <p:cNvPr id="7" name="Picture 6" descr="chartUNI_unified_best_strategy_heatmap_per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5873"/>
            <a:ext cx="7955279" cy="437777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188720"/>
            <a:ext cx="3383280" cy="5120640"/>
          </a:xfrm>
          <a:prstGeom prst="rect">
            <a:avLst/>
          </a:prstGeom>
          <a:solidFill>
            <a:srgbClr val="EBF4FF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95360" y="1188720"/>
            <a:ext cx="73152" cy="5120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9952" y="1234440"/>
            <a:ext cx="3154680" cy="502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Winner per (λ_error, λ_latency) cell, broken down by dataset. Shows that the best strategy is not uniform across benchmarks — e.g. coding tasks favor the small model almost everywhere, while GPQA and MMLU-Pro give the Router and the large models more room.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1719</Words>
  <Application>Microsoft Office PowerPoint</Application>
  <PresentationFormat>Widescreen</PresentationFormat>
  <Paragraphs>249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Abaszada, Matin</cp:lastModifiedBy>
  <cp:revision>2</cp:revision>
  <dcterms:created xsi:type="dcterms:W3CDTF">2013-01-27T09:14:16Z</dcterms:created>
  <dcterms:modified xsi:type="dcterms:W3CDTF">2026-05-11T11:00:47Z</dcterms:modified>
  <cp:category/>
</cp:coreProperties>
</file>