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4069080"/>
            <a:ext cx="8534095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608" y="256032"/>
            <a:ext cx="4285722" cy="104241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3956539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463040"/>
            <a:ext cx="10881360" cy="1828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Segoe UI"/>
              </a:rPr>
              <a:t>Empirical Evaluation and Cost Optimization
of Large Language Models in Azure Cloud Environments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881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Segoe UI"/>
              </a:rPr>
              <a:t>Bachelor Thesis Defense, Computer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03327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0B1F4B"/>
                </a:solidFill>
                <a:latin typeface="Segoe UI"/>
              </a:rPr>
              <a:t>Matin Abaszada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0" i="0">
                <a:solidFill>
                  <a:srgbClr val="212121"/>
                </a:solidFill>
                <a:latin typeface="Segoe UI"/>
              </a:rPr>
              <a:t>Supervisor: Prof. Dr. Ivan Ovsyannikov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532120"/>
            <a:ext cx="10332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0" i="1">
                <a:solidFill>
                  <a:srgbClr val="605E5C"/>
                </a:solidFill>
                <a:latin typeface="Segoe UI"/>
              </a:rPr>
              <a:t>Constructor University,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Why Cloud Hosting and Model Choice Both Matter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MOTIVATION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3657600" cy="274320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63040"/>
            <a:ext cx="411480" cy="4114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630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63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The Expensive Reality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57400"/>
            <a:ext cx="32004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Because of GPU clusters, cooling, dedicated operations and millions in CapEx, hosting LLMs locally is expensive.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280160"/>
            <a:ext cx="3657600" cy="274320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53128" y="1463040"/>
            <a:ext cx="411480" cy="4114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4630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1768" y="1463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The Shift to Cloud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057400"/>
            <a:ext cx="32004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Enterprises move to cloud environments. One API call replaces an entire on-premise GPU server room. Pay only for what you use.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74736" y="1280160"/>
            <a:ext cx="3657600" cy="274320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57616" y="1463040"/>
            <a:ext cx="411480" cy="4114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7616" y="14630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463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Azure as the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3336" y="2057400"/>
            <a:ext cx="32004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Microsoft Azure: a unified catalog of OpenAI / DeepSeek / Meta models, pay-per-token pricing, quotas, and rate limits.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297680"/>
            <a:ext cx="11430000" cy="1783080"/>
          </a:xfrm>
          <a:prstGeom prst="rect">
            <a:avLst/>
          </a:prstGeom>
          <a:solidFill>
            <a:srgbClr val="FFF4CE"/>
          </a:solidFill>
          <a:ln w="9525">
            <a:solidFill>
              <a:srgbClr val="FF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4297680"/>
            <a:ext cx="73152" cy="1783080"/>
          </a:xfrm>
          <a:prstGeom prst="rect">
            <a:avLst/>
          </a:prstGeom>
          <a:solidFill>
            <a:srgbClr val="FF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343400"/>
            <a:ext cx="11201400" cy="1691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0" i="0">
                <a:solidFill>
                  <a:srgbClr val="212121"/>
                </a:solidFill>
                <a:latin typeface="Segoe UI"/>
              </a:rPr>
              <a:t>In the cloud, “best model” ≠ “strongest model”.</a:t>
            </a:r>
          </a:p>
          <a:p>
            <a:pPr algn="l"/>
            <a:r>
              <a:rPr sz="1600" b="0" i="0">
                <a:solidFill>
                  <a:srgbClr val="212121"/>
                </a:solidFill>
                <a:latin typeface="Segoe UI"/>
              </a:rPr>
              <a:t>A top-accuracy model that costs ~20× more per request than the next-best may be the wrong enterprise choice.</a:t>
            </a:r>
          </a:p>
          <a:p>
            <a:pPr algn="l"/>
            <a:r>
              <a:rPr sz="1600" b="0" i="0">
                <a:solidFill>
                  <a:srgbClr val="212121"/>
                </a:solidFill>
                <a:latin typeface="Segoe UI"/>
              </a:rPr>
              <a:t>Accuracy, cost, and latency must all be evaluated together.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Research Gap &amp;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5943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0B1F4B"/>
                </a:solidFill>
                <a:latin typeface="Segoe UI"/>
              </a:rPr>
              <a:t>Where the existing literature falls short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603504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500" b="0" i="0">
                <a:solidFill>
                  <a:srgbClr val="212121"/>
                </a:solidFill>
                <a:latin typeface="Segoe UI"/>
              </a:rPr>
              <a:t>Most existing studies evaluate models in isolation: accuracy only, or cost only, never together.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500" b="0" i="0">
                <a:solidFill>
                  <a:srgbClr val="212121"/>
                </a:solidFill>
                <a:latin typeface="Segoe UI"/>
              </a:rPr>
              <a:t>Optimization strategies (routing, cascading) are benchmarked against their own internal goal, not a unified deployment reward.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500" b="0" i="0">
                <a:solidFill>
                  <a:srgbClr val="212121"/>
                </a:solidFill>
                <a:latin typeface="Segoe UI"/>
              </a:rPr>
              <a:t>Almost no studies test these strategies in a real cloud environment, where pricing, quotas, and rate limits directly shape latency and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1188720"/>
            <a:ext cx="4937760" cy="484632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1325880"/>
            <a:ext cx="43891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0B1F4B"/>
                </a:solidFill>
                <a:latin typeface="Segoe UI"/>
              </a:rPr>
              <a:t>Research Questions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1828800"/>
            <a:ext cx="109728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0" y="2057400"/>
            <a:ext cx="502920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205740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2057400"/>
            <a:ext cx="36576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How do Azure-hosted LLMs differ across accuracy, latency, and cost?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3337560"/>
            <a:ext cx="502920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333756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3337560"/>
            <a:ext cx="36576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Is reasoning-enabled inference economically justified?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0" y="4617720"/>
            <a:ext cx="502920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4617720"/>
            <a:ext cx="5029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617720"/>
            <a:ext cx="36576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Can a proxy optimization layer improve cost-efficiency?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0" fill="hold">
                      <p:stCondLst>
                        <p:cond delay="indefinite"/>
                      </p:stCondLst>
                      <p:childTnLst>
                        <p:par>
                          <p:cTn id="4101" fill="hold">
                            <p:stCondLst>
                              <p:cond delay="0"/>
                            </p:stCondLst>
                            <p:childTnLst>
                              <p:par>
                                <p:cTn id="4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2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Study Design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METHODOLOGY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280160"/>
            <a:ext cx="10332720" cy="11430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1280160"/>
            <a:ext cx="137160" cy="1143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389888"/>
            <a:ext cx="9784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6 Azure Models  (2 generations × 3 tiers)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847088"/>
            <a:ext cx="9784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Segoe UI"/>
              </a:rPr>
              <a:t>gpt-4.1-mini · gpt-5.4-mini    |    gpt-4.1 · gpt-5.4    |    o3-mini · gpt-5.4-pro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852160" y="2423160"/>
            <a:ext cx="457200" cy="22860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2651760"/>
            <a:ext cx="10332720" cy="11430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651760"/>
            <a:ext cx="137160" cy="1143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2761488"/>
            <a:ext cx="9784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5 Benchmark Datasets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18688"/>
            <a:ext cx="9784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Segoe UI"/>
              </a:rPr>
              <a:t>HumanEval (Python coding) · MBPP (Python coding) · MMLU-Pro (multi-subject multiple-choice) · GPQA (graduate-level science Q&amp;A) · GSM8K (grade-school math word problems)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852160" y="3794760"/>
            <a:ext cx="457200" cy="22860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4023360"/>
            <a:ext cx="10332720" cy="11430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4023360"/>
            <a:ext cx="137160" cy="1143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33088"/>
            <a:ext cx="9784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1F4B"/>
                </a:solidFill>
                <a:latin typeface="Segoe UI"/>
              </a:rPr>
              <a:t>Evaluated Under 4 Strategies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590288"/>
            <a:ext cx="9784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12121"/>
                </a:solidFill>
                <a:latin typeface="Segoe UI"/>
              </a:rPr>
              <a:t>Standalone  ·  Cascade  ·  Router  ·  Self-Consistency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5577840"/>
            <a:ext cx="10332720" cy="64008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5577840"/>
            <a:ext cx="73152" cy="6400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5623560"/>
            <a:ext cx="101041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212121"/>
                </a:solidFill>
                <a:latin typeface="Segoe UI"/>
              </a:rPr>
              <a:t>All strategies evaluated under the same economic reward function.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The Unified Evaluation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METHODOLOGY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10881360" cy="128016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108813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1" i="0">
                <a:solidFill>
                  <a:srgbClr val="212121"/>
                </a:solidFill>
                <a:latin typeface="Segoe UI"/>
              </a:rPr>
              <a:t>Reward  =  − ( </a:t>
            </a:r>
            <a:r>
              <a:rPr sz="2800" b="1" i="0">
                <a:solidFill>
                  <a:srgbClr val="107C10"/>
                </a:solidFill>
                <a:latin typeface="Segoe UI"/>
              </a:rPr>
              <a:t>Cost</a:t>
            </a:r>
            <a:r>
              <a:rPr sz="2800" b="1" i="0">
                <a:solidFill>
                  <a:srgbClr val="212121"/>
                </a:solidFill>
                <a:latin typeface="Segoe UI"/>
              </a:rPr>
              <a:t>  +  </a:t>
            </a:r>
            <a:r>
              <a:rPr sz="2800" b="1" i="0">
                <a:solidFill>
                  <a:srgbClr val="0078D4"/>
                </a:solidFill>
                <a:latin typeface="Segoe UI"/>
              </a:rPr>
              <a:t>λ_latency × Latency</a:t>
            </a:r>
            <a:r>
              <a:rPr sz="2800" b="1" i="0">
                <a:solidFill>
                  <a:srgbClr val="212121"/>
                </a:solidFill>
                <a:latin typeface="Segoe UI"/>
              </a:rPr>
              <a:t>  +  </a:t>
            </a:r>
            <a:r>
              <a:rPr sz="2800" b="1" i="0">
                <a:solidFill>
                  <a:srgbClr val="D83B01"/>
                </a:solidFill>
                <a:latin typeface="Segoe UI"/>
              </a:rPr>
              <a:t>λ_error × Error</a:t>
            </a:r>
            <a:r>
              <a:rPr sz="2800" b="1" i="0">
                <a:solidFill>
                  <a:srgbClr val="212121"/>
                </a:solidFill>
                <a:latin typeface="Segoe UI"/>
              </a:rPr>
              <a:t> 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17520"/>
            <a:ext cx="361188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127248"/>
            <a:ext cx="3246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07C10"/>
                </a:solidFill>
                <a:latin typeface="Segoe UI"/>
              </a:rPr>
              <a:t>$ 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611880"/>
            <a:ext cx="324612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Cost of each request, deterministically calculated from tokens used × Azure price.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3017520"/>
            <a:ext cx="361188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3127248"/>
            <a:ext cx="3246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078D4"/>
                </a:solidFill>
                <a:latin typeface="Segoe UI"/>
              </a:rPr>
              <a:t>⏱ 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611880"/>
            <a:ext cx="324612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Wall-clock time per API call (seconds).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3017520"/>
            <a:ext cx="361188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D83B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3127248"/>
            <a:ext cx="3246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D83B01"/>
                </a:solidFill>
                <a:latin typeface="Segoe UI"/>
              </a:rPr>
              <a:t>✗  Error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611880"/>
            <a:ext cx="324612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Represents whether the model response is correct or wrong, encoded as a binary value.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572000"/>
            <a:ext cx="11201400" cy="182880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572000"/>
            <a:ext cx="73152" cy="18288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4617720"/>
            <a:ext cx="10972800" cy="1737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212121"/>
                </a:solidFill>
                <a:latin typeface="Segoe UI"/>
              </a:rPr>
              <a:t>•  λ_latency = penalty per second of waiting.</a:t>
            </a:r>
          </a:p>
          <a:p>
            <a:pPr algn="l"/>
            <a:r>
              <a:rPr sz="1400" b="1" i="0">
                <a:solidFill>
                  <a:srgbClr val="212121"/>
                </a:solidFill>
                <a:latin typeface="Segoe UI"/>
              </a:rPr>
              <a:t>•  λ_error = penalty per wrong answer.</a:t>
            </a:r>
          </a:p>
          <a:p>
            <a:pPr algn="l"/>
            <a:r>
              <a:rPr sz="1400" b="1" i="0">
                <a:solidFill>
                  <a:srgbClr val="212121"/>
                </a:solidFill>
                <a:latin typeface="Segoe UI"/>
              </a:rPr>
              <a:t>•  Defaults: λ_latency = 0.01, λ_error = 1.0 (sensitivity swept).</a:t>
            </a:r>
          </a:p>
          <a:p>
            <a:pPr algn="l"/>
            <a:r>
              <a:rPr sz="1400" b="1" i="0">
                <a:solidFill>
                  <a:srgbClr val="212121"/>
                </a:solidFill>
                <a:latin typeface="Segoe UI"/>
              </a:rPr>
              <a:t>•  Higher reward (closer to zero) is better.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0" fill="hold">
                      <p:stCondLst>
                        <p:cond delay="indefinite"/>
                      </p:stCondLst>
                      <p:childTnLst>
                        <p:par>
                          <p:cTn id="4101" fill="hold">
                            <p:stCondLst>
                              <p:cond delay="0"/>
                            </p:stCondLst>
                            <p:childTnLst>
                              <p:par>
                                <p:cTn id="4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Accuracy: A Two-Tier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RESULTS  •  STANDALONE</a:t>
            </a:r>
          </a:p>
        </p:txBody>
      </p:sp>
      <p:pic>
        <p:nvPicPr>
          <p:cNvPr id="8" name="Picture 7" descr="chart1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397" y="1188720"/>
            <a:ext cx="6978886" cy="5212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95360" y="118872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Two clear tiers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691640"/>
            <a:ext cx="3383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Top tier (&gt;80%): gpt-5.4-pro 93.2%, gpt-5.4 90.8%, o3-mini 83.3%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Bottom tier (&lt;70%): gpt-4.1 68.3%, gpt-5.4-mini 60.6%, gpt-4.1-mini 57.6%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Gap between tiers ≈ 15 pp, larger than the spread within either tier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5029200"/>
            <a:ext cx="3383280" cy="128016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95360" y="5029200"/>
            <a:ext cx="73152" cy="12801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59952" y="5074920"/>
            <a:ext cx="315468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212121"/>
                </a:solidFill>
                <a:latin typeface="Segoe UI"/>
              </a:rPr>
              <a:t>Not gradual improvement; a structural jump.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Cost vs. Accuracy: ~20× Gap at the Pareto Frontier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7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RESULTS  •  STANDALONE</a:t>
            </a:r>
          </a:p>
        </p:txBody>
      </p:sp>
      <p:pic>
        <p:nvPicPr>
          <p:cNvPr id="8" name="Picture 7" descr="chart3_cost_vs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63654"/>
            <a:ext cx="8138160" cy="50622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95360" y="118872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Pareto frontier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691640"/>
            <a:ext cx="3383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gpt-5.4: 90.8% accuracy at 23× lower cost than gpt-5.4-pro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gpt-5.4-pro: +2.4 pp over gpt-5.4 at ~20× the cost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o3-mini and gpt-4.1 are Pareto-dominated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5029200"/>
            <a:ext cx="3383280" cy="128016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95360" y="5029200"/>
            <a:ext cx="73152" cy="12801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59952" y="5074920"/>
            <a:ext cx="315468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1" i="0">
                <a:solidFill>
                  <a:srgbClr val="212121"/>
                </a:solidFill>
                <a:latin typeface="Segoe UI"/>
              </a:rPr>
              <a:t>Cost spans almost three orders of magnitude.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Economic Reward: The Ranking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8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RESULTS  •  STANDALONE</a:t>
            </a:r>
          </a:p>
        </p:txBody>
      </p:sp>
      <p:pic>
        <p:nvPicPr>
          <p:cNvPr id="8" name="Picture 7" descr="chart4_re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265" y="1188720"/>
            <a:ext cx="6963150" cy="5212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95360" y="118872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Most accurate ≠ best reward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691640"/>
            <a:ext cx="3383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gpt-5.4-pro: #1 accuracy → #5 reward (cost + latency penalty)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o3-mini: #3 accuracy → #6 reward (65.7 s mean latency)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gpt-5.4: #2 accuracy → #1 reward (best balance)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Which Model Wins, and When?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9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RESULTS  •  STANDALONE</a:t>
            </a:r>
          </a:p>
        </p:txBody>
      </p:sp>
      <p:pic>
        <p:nvPicPr>
          <p:cNvPr id="8" name="Picture 7" descr="chart7_best_mode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18275"/>
            <a:ext cx="8138160" cy="43529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95360" y="1188720"/>
            <a:ext cx="3383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Each cell = winning model at those (λ_error, λ_latency) weights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★  marks the default deployment setting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Mini wins under high latency penalty; gpt-5.4 wins the centre; gpt-5.4-pro wins under high error penalty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Cascade: Why not ask the small model first and only escalate when needed?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10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OPTIMIZATION  •  1 /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How it 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691640"/>
            <a:ext cx="3383280" cy="50292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Query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286000" y="2240280"/>
            <a:ext cx="274320" cy="18288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468880"/>
            <a:ext cx="3383280" cy="50292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Small Model (cheap)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286000" y="3017520"/>
            <a:ext cx="274320" cy="18288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246120"/>
            <a:ext cx="3383280" cy="502920"/>
          </a:xfrm>
          <a:prstGeom prst="rect">
            <a:avLst/>
          </a:prstGeom>
          <a:solidFill>
            <a:srgbClr val="FFF4CE"/>
          </a:solidFill>
          <a:ln w="12700">
            <a:solidFill>
              <a:srgbClr val="FF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4612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Confidence ≥ Threshold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86200"/>
            <a:ext cx="2057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07C10"/>
                </a:solidFill>
                <a:latin typeface="Segoe UI"/>
              </a:rPr>
              <a:t>YES  →  return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886200"/>
            <a:ext cx="2057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D83B01"/>
                </a:solidFill>
                <a:latin typeface="Segoe UI"/>
              </a:rPr>
              <a:t>NO  →  Large 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297680"/>
            <a:ext cx="3383280" cy="502920"/>
          </a:xfrm>
          <a:prstGeom prst="rect">
            <a:avLst/>
          </a:prstGeom>
          <a:solidFill>
            <a:srgbClr val="EBF4FF"/>
          </a:solidFill>
          <a:ln w="12700">
            <a:solidFill>
              <a:srgbClr val="D83B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29768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Large Model (final answer)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983480" y="1874519"/>
          <a:ext cx="6812280" cy="2240280"/>
        </p:xfrm>
        <a:graphic>
          <a:graphicData uri="http://schemas.openxmlformats.org/drawingml/2006/table">
            <a:tbl>
              <a:tblPr firstRow="0" bandRow="0" firstCol="0"/>
              <a:tblGrid>
                <a:gridCol w="2103120"/>
                <a:gridCol w="713232"/>
                <a:gridCol w="713232"/>
                <a:gridCol w="713232"/>
                <a:gridCol w="1280160"/>
                <a:gridCol w="1289304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Configuration</a:t>
                      </a:r>
                    </a:p>
                  </a:txBody>
                  <a:tcPr marL="27432" marR="27432" marT="18288" marB="18288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T=60</a:t>
                      </a:r>
                    </a:p>
                  </a:txBody>
                  <a:tcPr marL="27432" marR="27432" marT="18288" marB="18288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T=75</a:t>
                      </a:r>
                    </a:p>
                  </a:txBody>
                  <a:tcPr marL="27432" marR="27432" marT="18288" marB="18288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T=90</a:t>
                      </a:r>
                    </a:p>
                  </a:txBody>
                  <a:tcPr marL="27432" marR="27432" marT="18288" marB="18288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Small alone</a:t>
                      </a:r>
                    </a:p>
                  </a:txBody>
                  <a:tcPr marL="27432" marR="27432" marT="18288" marB="18288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Large alone</a:t>
                      </a:r>
                    </a:p>
                  </a:txBody>
                  <a:tcPr marL="27432" marR="27432" marT="18288" marB="18288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12121"/>
                          </a:solidFill>
                          <a:latin typeface="Segoe UI"/>
                        </a:rPr>
                        <a:t>gpt-4.1-mini → gpt-4.1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−0.601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−0.602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−0.606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−0.582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07C10"/>
                          </a:solidFill>
                          <a:latin typeface="Segoe UI"/>
                        </a:rPr>
                        <a:t>−0.527</a:t>
                      </a:r>
                    </a:p>
                  </a:txBody>
                  <a:tcPr marL="27432" marR="27432" marT="18288" marB="18288" anchor="ctr">
                    <a:solidFill>
                      <a:srgbClr val="E6F4EA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12121"/>
                          </a:solidFill>
                          <a:latin typeface="Segoe UI"/>
                        </a:rPr>
                        <a:t>gpt-4.1-mini → gpt-5.4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−0.601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−0.601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−0.601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−0.582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07C10"/>
                          </a:solidFill>
                          <a:latin typeface="Segoe UI"/>
                        </a:rPr>
                        <a:t>−0.444</a:t>
                      </a:r>
                    </a:p>
                  </a:txBody>
                  <a:tcPr marL="27432" marR="27432" marT="18288" marB="18288" anchor="ctr">
                    <a:solidFill>
                      <a:srgbClr val="E6F4EA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12121"/>
                          </a:solidFill>
                          <a:latin typeface="Segoe UI"/>
                        </a:rPr>
                        <a:t>gpt-5.4-mini → gpt-4.1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−0.680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−0.689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−0.708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−0.569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07C10"/>
                          </a:solidFill>
                          <a:latin typeface="Segoe UI"/>
                        </a:rPr>
                        <a:t>−0.527</a:t>
                      </a:r>
                    </a:p>
                  </a:txBody>
                  <a:tcPr marL="27432" marR="27432" marT="18288" marB="18288" anchor="ctr">
                    <a:solidFill>
                      <a:srgbClr val="E6F4EA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12121"/>
                          </a:solidFill>
                          <a:latin typeface="Segoe UI"/>
                        </a:rPr>
                        <a:t>gpt-5.4-mini → gpt-5.4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−0.680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−0.680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−0.681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Segoe UI"/>
                        </a:rPr>
                        <a:t>−0.569</a:t>
                      </a:r>
                    </a:p>
                  </a:txBody>
                  <a:tcPr marL="27432" marR="27432" marT="18288" marB="18288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07C10"/>
                          </a:solidFill>
                          <a:latin typeface="Segoe UI"/>
                        </a:rPr>
                        <a:t>−0.444</a:t>
                      </a:r>
                    </a:p>
                  </a:txBody>
                  <a:tcPr marL="27432" marR="27432" marT="18288" marB="18288" anchor="ctr">
                    <a:solidFill>
                      <a:srgbClr val="E6F4EA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4983480" y="4169663"/>
            <a:ext cx="6812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 i="1">
                <a:solidFill>
                  <a:srgbClr val="605E5C"/>
                </a:solidFill>
                <a:latin typeface="Segoe UI"/>
              </a:rPr>
              <a:t>Table 7: Cascade reward at default weights (λ_l = 0.01, λ_e = 1.0).  No cascade beats its large-alone baseline.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623560"/>
            <a:ext cx="11338560" cy="777240"/>
          </a:xfrm>
          <a:prstGeom prst="rect">
            <a:avLst/>
          </a:prstGeom>
          <a:solidFill>
            <a:srgbClr val="FFF4CE"/>
          </a:solidFill>
          <a:ln w="9525">
            <a:solidFill>
              <a:srgbClr val="FF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623560"/>
            <a:ext cx="73152" cy="777240"/>
          </a:xfrm>
          <a:prstGeom prst="rect">
            <a:avLst/>
          </a:prstGeom>
          <a:solidFill>
            <a:srgbClr val="FF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669280"/>
            <a:ext cx="1110996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212121"/>
                </a:solidFill>
                <a:latin typeface="Segoe UI"/>
              </a:rPr>
              <a:t>Maximum escalation rate: only 7.3%, even at T = 90.  Modern LLMs are overconfident; the gate almost never opens.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0" fill="hold">
                      <p:stCondLst>
                        <p:cond delay="indefinite"/>
                      </p:stCondLst>
                      <p:childTnLst>
                        <p:par>
                          <p:cTn id="4101" fill="hold">
                            <p:stCondLst>
                              <p:cond delay="0"/>
                            </p:stCondLst>
                            <p:childTnLst>
                              <p:par>
                                <p:cTn id="4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3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00" fill="hold">
                      <p:stCondLst>
                        <p:cond delay="indefinite"/>
                      </p:stCondLst>
                      <p:childTnLst>
                        <p:par>
                          <p:cTn id="5101" fill="hold">
                            <p:stCondLst>
                              <p:cond delay="0"/>
                            </p:stCondLst>
                            <p:childTnLst>
                              <p:par>
                                <p:cTn id="5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00" fill="hold">
                      <p:stCondLst>
                        <p:cond delay="indefinite"/>
                      </p:stCondLst>
                      <p:childTnLst>
                        <p:par>
                          <p:cTn id="6101" fill="hold">
                            <p:stCondLst>
                              <p:cond delay="0"/>
                            </p:stCondLst>
                            <p:childTnLst>
                              <p:par>
                                <p:cTn id="6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1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00" fill="hold">
                      <p:stCondLst>
                        <p:cond delay="indefinite"/>
                      </p:stCondLst>
                      <p:childTnLst>
                        <p:par>
                          <p:cTn id="7101" fill="hold">
                            <p:stCondLst>
                              <p:cond delay="0"/>
                            </p:stCondLst>
                            <p:childTnLst>
                              <p:par>
                                <p:cTn id="7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2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Self-Consistency: Why not let the small model double-check its own answer?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11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OPTIMIZATION  •  2 /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How it 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691640"/>
            <a:ext cx="3291840" cy="50292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32918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Query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097280" y="2286000"/>
            <a:ext cx="137160" cy="22860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60320"/>
            <a:ext cx="1051560" cy="4572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0320"/>
            <a:ext cx="10515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212121"/>
                </a:solidFill>
                <a:latin typeface="Segoe UI"/>
              </a:rPr>
              <a:t>Run 1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240280" y="2286000"/>
            <a:ext cx="137160" cy="22860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83080" y="2560320"/>
            <a:ext cx="1051560" cy="4572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3080" y="2560320"/>
            <a:ext cx="10515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212121"/>
                </a:solidFill>
                <a:latin typeface="Segoe UI"/>
              </a:rPr>
              <a:t>Run 2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383280" y="2286000"/>
            <a:ext cx="137160" cy="22860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26080" y="2560320"/>
            <a:ext cx="1051560" cy="45720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0" y="2560320"/>
            <a:ext cx="10515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212121"/>
                </a:solidFill>
                <a:latin typeface="Segoe UI"/>
              </a:rPr>
              <a:t>Run 3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240280" y="3108960"/>
            <a:ext cx="274320" cy="18288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429000"/>
            <a:ext cx="3291840" cy="502920"/>
          </a:xfrm>
          <a:prstGeom prst="rect">
            <a:avLst/>
          </a:prstGeom>
          <a:solidFill>
            <a:srgbClr val="E6F4EA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429000"/>
            <a:ext cx="32918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Majority Vote → Final Answer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297680"/>
            <a:ext cx="4069080" cy="182880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4297680"/>
            <a:ext cx="73152" cy="18288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343400"/>
            <a:ext cx="3840480" cy="1737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gpt-4.1-mini N=3:  +6.8 pp accuracy.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MMLU-Pro: 27.8% → 44.0%.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/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Modest gain: cost = exactly 3×,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and accuracy stays below the next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standalone tier (68.3%).</a:t>
            </a:r>
          </a:p>
        </p:txBody>
      </p:sp>
      <p:pic>
        <p:nvPicPr>
          <p:cNvPr id="26" name="Picture 25" descr="chartSC5_selfcons_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09596"/>
            <a:ext cx="7406640" cy="40045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4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0" fill="hold">
                      <p:stCondLst>
                        <p:cond delay="indefinite"/>
                      </p:stCondLst>
                      <p:childTnLst>
                        <p:par>
                          <p:cTn id="4101" fill="hold">
                            <p:stCondLst>
                              <p:cond delay="0"/>
                            </p:stCondLst>
                            <p:childTnLst>
                              <p:par>
                                <p:cTn id="4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2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00" fill="hold">
                      <p:stCondLst>
                        <p:cond delay="indefinite"/>
                      </p:stCondLst>
                      <p:childTnLst>
                        <p:par>
                          <p:cTn id="5101" fill="hold">
                            <p:stCondLst>
                              <p:cond delay="0"/>
                            </p:stCondLst>
                            <p:childTnLst>
                              <p:par>
                                <p:cTn id="5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1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4" grpId="0"/>
      <p:bldP spid="17" grpId="0"/>
      <p:bldP spid="12" grpId="0"/>
      <p:bldP spid="13" grpId="0"/>
      <p:bldP spid="15" grpId="0"/>
      <p:bldP spid="16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Router: Why not let an intelligent LLM decide which model to use?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OPTIMIZATION  •  3 /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How it 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691640"/>
            <a:ext cx="3383280" cy="502920"/>
          </a:xfrm>
          <a:prstGeom prst="rect">
            <a:avLst/>
          </a:prstGeom>
          <a:solidFill>
            <a:srgbClr val="EBF4FF"/>
          </a:solidFill>
          <a:ln w="127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Query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286000" y="2240280"/>
            <a:ext cx="274320" cy="18288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468880"/>
            <a:ext cx="3383280" cy="502920"/>
          </a:xfrm>
          <a:prstGeom prst="rect">
            <a:avLst/>
          </a:prstGeom>
          <a:solidFill>
            <a:srgbClr val="FFF4CE"/>
          </a:solidFill>
          <a:ln w="12700">
            <a:solidFill>
              <a:srgbClr val="FF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33832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12121"/>
                </a:solidFill>
                <a:latin typeface="Segoe UI"/>
              </a:rPr>
              <a:t>Router  (gpt-5.4-mini)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286000" y="3017520"/>
            <a:ext cx="274320" cy="182880"/>
          </a:xfrm>
          <a:prstGeom prst="downArrow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246120"/>
            <a:ext cx="1783080" cy="548640"/>
          </a:xfrm>
          <a:prstGeom prst="rect">
            <a:avLst/>
          </a:prstGeom>
          <a:solidFill>
            <a:srgbClr val="E6F4EA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17830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  <a:latin typeface="Segoe UI"/>
              </a:rPr>
              <a:t>EASY → Small
(gpt-4.1-mini)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3246120"/>
            <a:ext cx="1783080" cy="548640"/>
          </a:xfrm>
          <a:prstGeom prst="rect">
            <a:avLst/>
          </a:prstGeom>
          <a:solidFill>
            <a:srgbClr val="FDE7E9"/>
          </a:solidFill>
          <a:ln w="12700">
            <a:solidFill>
              <a:srgbClr val="D83B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246120"/>
            <a:ext cx="178308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  <a:latin typeface="Segoe UI"/>
              </a:rPr>
              <a:t>HARD → Large
(gpt-4.1)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160520"/>
            <a:ext cx="4160520" cy="1874519"/>
          </a:xfrm>
          <a:prstGeom prst="rect">
            <a:avLst/>
          </a:prstGeom>
          <a:solidFill>
            <a:srgbClr val="E6F4EA"/>
          </a:solidFill>
          <a:ln w="95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160520"/>
            <a:ext cx="73152" cy="1874519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4206240"/>
            <a:ext cx="3931920" cy="1783079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Accuracy clearly above the small baseline, at a fraction</a:t>
            </a:r>
          </a:p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of the cost of the large model.</a:t>
            </a:r>
          </a:p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/>
            </a:r>
          </a:p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Trade-off: latency stays close to the large model,</a:t>
            </a:r>
          </a:p>
          <a:p>
            <a:pPr algn="l"/>
            <a:r>
              <a:rPr sz="1200" b="0" i="0">
                <a:solidFill>
                  <a:srgbClr val="212121"/>
                </a:solidFill>
                <a:latin typeface="Segoe UI"/>
              </a:rPr>
              <a:t>because every query first passes through the router.</a:t>
            </a:r>
          </a:p>
        </p:txBody>
      </p:sp>
      <p:pic>
        <p:nvPicPr>
          <p:cNvPr id="22" name="Picture 21" descr="chartR3_router_best_confi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48275"/>
            <a:ext cx="7406640" cy="39272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3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00" fill="hold">
                      <p:stCondLst>
                        <p:cond delay="indefinite"/>
                      </p:stCondLst>
                      <p:childTnLst>
                        <p:par>
                          <p:cTn id="4101" fill="hold">
                            <p:stCondLst>
                              <p:cond delay="0"/>
                            </p:stCondLst>
                            <p:childTnLst>
                              <p:par>
                                <p:cTn id="4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00" fill="hold">
                      <p:stCondLst>
                        <p:cond delay="indefinite"/>
                      </p:stCondLst>
                      <p:childTnLst>
                        <p:par>
                          <p:cTn id="5101" fill="hold">
                            <p:stCondLst>
                              <p:cond delay="0"/>
                            </p:stCondLst>
                            <p:childTnLst>
                              <p:par>
                                <p:cTn id="5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1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Head-to-Head: Best Configuration per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RESULTS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88720"/>
          <a:ext cx="10881360" cy="3291840"/>
        </p:xfrm>
        <a:graphic>
          <a:graphicData uri="http://schemas.openxmlformats.org/drawingml/2006/table">
            <a:tbl>
              <a:tblPr firstRow="0" bandRow="0" firstCol="0"/>
              <a:tblGrid>
                <a:gridCol w="1371600"/>
                <a:gridCol w="4023360"/>
                <a:gridCol w="1280160"/>
                <a:gridCol w="1280160"/>
                <a:gridCol w="1463040"/>
                <a:gridCol w="1463040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Strategy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Best Configuration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Latency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Cost (m$)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</a:rPr>
                        <a:t>Reward</a:t>
                      </a:r>
                    </a:p>
                  </a:txBody>
                  <a:tcPr marL="73152" marR="73152" marT="45720" marB="45720" anchor="ctr">
                    <a:solidFill>
                      <a:srgbClr val="0B1F4B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Standalone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gpt-5.4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90.8%</a:t>
                      </a:r>
                    </a:p>
                  </a:txBody>
                  <a:tcPr marL="73152" marR="73152" marT="45720" marB="45720" anchor="ctr">
                    <a:solidFill>
                      <a:srgbClr val="E6F4EA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34.7 s</a:t>
                      </a:r>
                    </a:p>
                  </a:txBody>
                  <a:tcPr marL="73152" marR="73152" marT="45720" marB="45720" anchor="ctr">
                    <a:solidFill>
                      <a:srgbClr val="FDE7E9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5.370</a:t>
                      </a:r>
                    </a:p>
                  </a:txBody>
                  <a:tcPr marL="73152" marR="73152" marT="45720" marB="45720" anchor="ctr">
                    <a:solidFill>
                      <a:srgbClr val="FDE7E9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−0.444</a:t>
                      </a:r>
                    </a:p>
                  </a:txBody>
                  <a:tcPr marL="73152" marR="73152" marT="45720" marB="45720" anchor="ctr">
                    <a:solidFill>
                      <a:srgbClr val="E6F4EA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Router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rtr=gpt-5.4-mini → gpt-4.1-mini / gpt-4.1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73.1%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22.9 s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0.344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−0.498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Self-Consist.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gpt-4.1-mini  N=3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64.4%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18.6 s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0.765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−0.543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Cascade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gpt-4.1-mini → gpt-5.4  T=75</a:t>
                      </a:r>
                    </a:p>
                  </a:txBody>
                  <a:tcPr marL="73152" marR="73152" marT="45720" marB="45720" anchor="ctr">
                    <a:solidFill>
                      <a:srgbClr val="F7F9FC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57.7%</a:t>
                      </a:r>
                    </a:p>
                  </a:txBody>
                  <a:tcPr marL="73152" marR="73152" marT="45720" marB="45720" anchor="ctr">
                    <a:solidFill>
                      <a:srgbClr val="FDE7E9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17.7 s</a:t>
                      </a:r>
                    </a:p>
                  </a:txBody>
                  <a:tcPr marL="73152" marR="73152" marT="45720" marB="45720" anchor="ctr">
                    <a:solidFill>
                      <a:srgbClr val="E6F4EA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12121"/>
                          </a:solidFill>
                          <a:latin typeface="Segoe UI"/>
                        </a:rPr>
                        <a:t>0.261</a:t>
                      </a:r>
                    </a:p>
                  </a:txBody>
                  <a:tcPr marL="73152" marR="73152" marT="45720" marB="45720" anchor="ctr">
                    <a:solidFill>
                      <a:srgbClr val="E6F4EA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212121"/>
                          </a:solidFill>
                          <a:latin typeface="Segoe UI"/>
                        </a:rPr>
                        <a:t>−0.601</a:t>
                      </a:r>
                    </a:p>
                  </a:txBody>
                  <a:tcPr marL="73152" marR="73152" marT="45720" marB="45720" anchor="ctr">
                    <a:solidFill>
                      <a:srgbClr val="FDE7E9"/>
                    </a:solidFill>
                    <a:lnL w="12700" cap="flat" cmpd="sng" algn="ctr">
                      <a:solidFill>
                        <a:srgbClr val="0B1F4B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B1F4B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B1F4B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B1F4B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605E5C"/>
                </a:solidFill>
                <a:latin typeface="Segoe UI"/>
              </a:rPr>
              <a:t>Cost (m$) = milli-dollars per request (1 m$ = 0.001 USD = one thousandth of a US dollar). Computed as token counts × Azure list price.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937760"/>
            <a:ext cx="11247120" cy="128016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73152" cy="12801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4983480"/>
            <a:ext cx="1101852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212121"/>
                </a:solidFill>
                <a:latin typeface="Segoe UI"/>
              </a:rPr>
              <a:t>•  At default weights, the best reward belongs to a standalone model.</a:t>
            </a:r>
          </a:p>
          <a:p>
            <a:pPr algn="l"/>
            <a:r>
              <a:rPr sz="1500" b="1" i="0">
                <a:solidFill>
                  <a:srgbClr val="212121"/>
                </a:solidFill>
                <a:latin typeface="Segoe UI"/>
              </a:rPr>
              <a:t>•  This ordering changes as the latency and error penalty weights are varied, as the next slide shows.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Best Model &amp; Optimization Strategy Across the Penalty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RESULTS</a:t>
            </a:r>
          </a:p>
        </p:txBody>
      </p:sp>
      <p:pic>
        <p:nvPicPr>
          <p:cNvPr id="8" name="Picture 7" descr="chartUNI_unified_best_strategy_heatmap_router_di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89676"/>
            <a:ext cx="8138160" cy="43187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95360" y="118872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Who wins each cell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0" y="1691640"/>
            <a:ext cx="109728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1828800"/>
            <a:ext cx="338328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SC gpt-4.1-mini (N=3): removes noise from a cheap and fast model, but accuracy still trails the standalone models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gpt-5.4: slower than SC, but reaches higher accuracy (fewer errors) — ★ default sits here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gpt-5.4-pro: highest accuracy of all, wins where error penalty is high and latency penalty is low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 i="0">
                <a:solidFill>
                  <a:srgbClr val="0078D4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212121"/>
                </a:solidFill>
                <a:latin typeface="Segoe UI"/>
              </a:rPr>
              <a:t>Router: accurate at a much lower cost than the large models, but latency stays high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Conclusions: Answering the Research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554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1">
                <a:solidFill>
                  <a:srgbClr val="605E5C"/>
                </a:solidFill>
                <a:latin typeface="Segoe UI"/>
              </a:rPr>
              <a:t>15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188720" cy="15544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88720" cy="1554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RQ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188720"/>
            <a:ext cx="10058400" cy="1554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1298448"/>
            <a:ext cx="9784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F4B"/>
                </a:solidFill>
                <a:latin typeface="Segoe UI"/>
              </a:rPr>
              <a:t>How do Azure LLMs differ in accuracy, latency, and cost?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1783080"/>
            <a:ext cx="9784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Two-tier structure: 15 pp accuracy gap and ≈7× cost gap at the tier boundary (o3-mini vs gpt-4.1).  No model Pareto-dominates.  gpt-5.4 = best balanced choice at default weights.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07792"/>
            <a:ext cx="1188720" cy="1554480"/>
          </a:xfrm>
          <a:prstGeom prst="rect">
            <a:avLst/>
          </a:prstGeom>
          <a:solidFill>
            <a:srgbClr val="FF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1188720" cy="1554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RQ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91640" y="2907792"/>
            <a:ext cx="10058400" cy="155448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74519" y="3017520"/>
            <a:ext cx="9784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F4B"/>
                </a:solidFill>
                <a:latin typeface="Segoe UI"/>
              </a:rPr>
              <a:t>Is reasoning-enabled inference economically justified?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02152"/>
            <a:ext cx="9784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Only for accuracy-critical, latency-tolerant tasks.  gpt-5.4-pro adds +2.4 pp at 20× the cost and 1.5× the latency. Not justified for general workloads.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26864"/>
            <a:ext cx="1188720" cy="15544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26864"/>
            <a:ext cx="1188720" cy="1554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RQ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91640" y="4626864"/>
            <a:ext cx="10058400" cy="15544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74519" y="4736592"/>
            <a:ext cx="9784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1F4B"/>
                </a:solidFill>
                <a:latin typeface="Segoe UI"/>
              </a:rPr>
              <a:t>Can proxy optimization improve cost-efficiency?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5221224"/>
            <a:ext cx="9784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•  Cascade fails to optimize because neutralized by LLM overconfidence.</a:t>
            </a:r>
          </a:p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•  Self-Consistency optimizes the cheap/fast regime by reducing noise.</a:t>
            </a:r>
          </a:p>
          <a:p>
            <a:pPr algn="l"/>
            <a:r>
              <a:rPr sz="1400" b="0" i="0">
                <a:solidFill>
                  <a:srgbClr val="212121"/>
                </a:solidFill>
                <a:latin typeface="Segoe UI"/>
              </a:rPr>
              <a:t>•  Router optimizes the accuracy-vs-cost trade-off, winning a band of the decision 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1463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1">
                <a:solidFill>
                  <a:srgbClr val="FFFFFF"/>
                </a:solidFill>
                <a:latin typeface="Segoe UI"/>
              </a:rPr>
              <a:t>Questions &amp;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4160520"/>
            <a:ext cx="3962095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88136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Empirical Evaluation and Cost Optimization
of Large Language Models in Azure Cloud Environments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Matin Abaszada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Segoe UI"/>
              </a:rPr>
              <a:t>Supervisor: Prof. Dr. Ivan Ovsyannikov   •   Constructor University, May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3291840"/>
            <a:ext cx="22860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078D4"/>
                </a:solidFill>
                <a:latin typeface="Segoe UI"/>
              </a:rPr>
              <a:t>BACKUP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20440"/>
            <a:ext cx="1033272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Segoe UI"/>
              </a:rPr>
              <a:t>Additional charts &amp; detail for Q&amp;A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Per-Dataset Accuracy Breakdown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BACKUP  •  B1</a:t>
            </a:r>
          </a:p>
        </p:txBody>
      </p:sp>
      <p:pic>
        <p:nvPicPr>
          <p:cNvPr id="7" name="Picture 6" descr="chart2_accuracy_per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4159"/>
            <a:ext cx="7955279" cy="43012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95360" y="1188720"/>
            <a:ext cx="3383280" cy="512064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95360" y="1188720"/>
            <a:ext cx="73152" cy="5120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9952" y="1234440"/>
            <a:ext cx="3154680" cy="5029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Coding benchmarks are saturated (80–100%).  GPQA and MMLU-Pro are the most discriminating datasets.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Self-Consistency Decision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BACKUP  •  B2</a:t>
            </a:r>
          </a:p>
        </p:txBody>
      </p:sp>
      <p:pic>
        <p:nvPicPr>
          <p:cNvPr id="7" name="Picture 6" descr="chartSC3_selfcons_best_confi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87590"/>
            <a:ext cx="7955279" cy="4214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95360" y="1188720"/>
            <a:ext cx="3383280" cy="512064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95360" y="1188720"/>
            <a:ext cx="73152" cy="5120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9952" y="1234440"/>
            <a:ext cx="3154680" cy="5029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gpt-4.1-mini N=3 dominates the upper-left (latency-tolerant, accuracy-important) region.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Router Detail: Routing Behavior by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BACKUP  •  B3</a:t>
            </a:r>
          </a:p>
        </p:txBody>
      </p:sp>
      <p:pic>
        <p:nvPicPr>
          <p:cNvPr id="7" name="Picture 6" descr="chartR1_router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627" y="1188720"/>
            <a:ext cx="6168424" cy="5212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95360" y="1188720"/>
            <a:ext cx="3383280" cy="512064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95360" y="1188720"/>
            <a:ext cx="73152" cy="5120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9952" y="1234440"/>
            <a:ext cx="3154680" cy="5029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Coding tasks are almost never escalated; GPQA gets 40%+ escalation rate.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Per-Dataset Decision Maps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BACKUP  •  B4</a:t>
            </a:r>
          </a:p>
        </p:txBody>
      </p:sp>
      <p:pic>
        <p:nvPicPr>
          <p:cNvPr id="7" name="Picture 6" descr="chartUNI_unified_best_strategy_heatmap_per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5873"/>
            <a:ext cx="7955279" cy="43777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95360" y="1188720"/>
            <a:ext cx="3383280" cy="5120640"/>
          </a:xfrm>
          <a:prstGeom prst="rect">
            <a:avLst/>
          </a:prstGeom>
          <a:solidFill>
            <a:srgbClr val="EBF4FF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95360" y="1188720"/>
            <a:ext cx="73152" cy="51206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9952" y="1234440"/>
            <a:ext cx="3154680" cy="5029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Winner per (λ_error, λ_latency) cell, broken down by dataset. Shows that the best strategy is not uniform across benchmarks — e.g. coding tasks favor the small model almost everywhere, while GPQA and MMLU-Pro give the Router and the large models more room.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Reward Formula: Full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05E5C"/>
                </a:solidFill>
                <a:latin typeface="Segoe UI"/>
              </a:rPr>
              <a:t>BACKUP  •  B4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0642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Equation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08176"/>
            <a:ext cx="1106424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99616"/>
            <a:ext cx="11064240" cy="2468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Reward = − ( Cost  +  λ_latency × Latency  +  λ_error × Error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11096"/>
            <a:ext cx="110642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Why a negative penalty?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21992"/>
            <a:ext cx="1106424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313432"/>
            <a:ext cx="11064240" cy="6492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A positive utility would require an arbitrary ceiling for what a “perfect” answer is worth. The negative-penalty form has a natural zero (no cost, no latency, no error), which is the theoretical ideal. Every real model can only be penalized from there.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27248"/>
            <a:ext cx="110642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Units &amp; defaults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438144"/>
            <a:ext cx="1106424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529584"/>
            <a:ext cx="11064240" cy="44805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Cost in dollars per request (token counts × Azure price). Latency in seconds. Error binary (0 or 1). Default weights: λ_latency = 0.01, λ_error = 1.0. Sensitivity is swept on a 2-D grid.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42231"/>
            <a:ext cx="110642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1F4B"/>
                </a:solidFill>
                <a:latin typeface="Segoe UI"/>
              </a:rPr>
              <a:t>Interpretation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453127"/>
            <a:ext cx="1106424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44567"/>
            <a:ext cx="11064240" cy="2468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Segoe UI"/>
              </a:rPr>
              <a:t>−0.444 means the average request incurs 0.444 units of combined penalty.  Higher (closer to 0) = better.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0" fill="hold">
                      <p:stCondLst>
                        <p:cond delay="indefinite"/>
                      </p:stCondLst>
                      <p:childTnLst>
                        <p:par>
                          <p:cTn id="1101" fill="hold">
                            <p:stCondLst>
                              <p:cond delay="0"/>
                            </p:stCondLst>
                            <p:childTnLst>
                              <p:par>
                                <p:cTn id="1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0" fill="hold">
                      <p:stCondLst>
                        <p:cond delay="indefinite"/>
                      </p:stCondLst>
                      <p:childTnLst>
                        <p:par>
                          <p:cTn id="2101" fill="hold">
                            <p:stCondLst>
                              <p:cond delay="0"/>
                            </p:stCondLst>
                            <p:childTnLst>
                              <p:par>
                                <p:cTn id="2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0" fill="hold">
                      <p:stCondLst>
                        <p:cond delay="indefinite"/>
                      </p:stCondLst>
                      <p:childTnLst>
                        <p:par>
                          <p:cTn id="3101" fill="hold">
                            <p:stCondLst>
                              <p:cond delay="0"/>
                            </p:stCondLst>
                            <p:childTnLst>
                              <p:par>
                                <p:cTn id="3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1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